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601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03C75A"/>
          </a:solidFill>
          <a:ln/>
          <a:effectLst>
            <a:outerShdw sx="100000" sy="100000" kx="0" ky="0" algn="bl" rotWithShape="0" blurRad="127000" dist="25400" dir="5400000">
              <a:srgbClr val="94A3B8">
                <a:alpha val="3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600200" y="9601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MoveValue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2057400"/>
            <a:ext cx="5394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집값이 아니라,
</a:t>
            </a:r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살아가는 비용</a:t>
            </a:r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endParaRPr lang="en-US" sz="3400" dirty="0"/>
          </a:p>
          <a:p>
            <a:pPr algn="l"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집을 찾습니다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주거비 · 통근시간 · 생활 인프라 · 안전 · 계약 위험까지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 공공데이터로 한 번에 계산하는 아파트 매칭 서비스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5440680"/>
            <a:ext cx="3200400" cy="502920"/>
          </a:xfrm>
          <a:prstGeom prst="roundRect">
            <a:avLst>
              <a:gd name="adj" fmla="val 20000"/>
            </a:avLst>
          </a:prstGeom>
          <a:solidFill>
            <a:srgbClr val="03C75A"/>
          </a:solidFill>
          <a:ln/>
          <a:effectLst>
            <a:outerShdw sx="100000" sy="100000" kx="0" ky="0" algn="bl" rotWithShape="0" blurRad="1612900000" dist="322580000" dir="324000000000">
              <a:srgbClr val="94A3B8">
                <a:alpha val="300000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 국토교통 서비스 발굴 경연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91072" y="1307592"/>
            <a:ext cx="5340096" cy="347472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8" name="Image 0" descr="/Users/leeseungbo/Desktop/공모전/2026년 공모전/국토교통 서비스 발굴 경연/deliverables/screenshots/01-main-scree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417320"/>
            <a:ext cx="5120640" cy="32552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91072" y="4818888"/>
            <a:ext cx="53400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구동 중인 MoveValue 웹 서비스 화면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377440" cy="402336"/>
          </a:xfrm>
          <a:prstGeom prst="roundRect">
            <a:avLst>
              <a:gd name="adj" fmla="val 25000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 배경 — 왜 필요한가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집은 </a:t>
            </a:r>
            <a:pPr indent="0" marL="0">
              <a:buNone/>
            </a:pPr>
            <a:r>
              <a:rPr lang="en-US" sz="26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</a:t>
            </a:r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고르지만, 살면서 내는 비용은 가격만이 아닙니다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21208" y="21945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420624" cy="420624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24871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정보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32004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시세는 부동산 앱, 통근은 지도 앱, 위험은 등기부등본.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청년·신혼부부는 여러 앱을 오가며 조각난 정보를 직접 짜맞춰야 합니다.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61688" y="21945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2514600"/>
            <a:ext cx="420624" cy="420624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57800" y="24871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보이지 않는 생활 비용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81728" y="32004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통근시간과 교통비, 병원·학교·공원 접근성, 치안·대기질.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매달 삶의 질을 좌우하지만 집값 어디에도 적혀 있지 않습니다.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02168" y="219456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22208" y="2514600"/>
            <a:ext cx="420624" cy="420624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098280" y="2487168"/>
            <a:ext cx="2514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전 위험 확인의 벽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22208" y="32004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전세사기가 국가적 현안이 된 지금도, 전세가율·보증금 위험·권리관계를 계약 전에 스스로 점검하기는 여전히 어렵습니다.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21208" y="548640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E8F8E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5486400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 공공데이터에는 이미 답이 있습니다 — </a:t>
            </a:r>
            <a:pPr algn="ctr" indent="0" marL="0">
              <a:buNone/>
            </a:pPr>
            <a:r>
              <a:rPr lang="en-US" sz="15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MoveValue는 그 데이터를 국민이 쓰는 언어로 바꿉니다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4023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5989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예산·직장·가구유형만 입력하면
</a:t>
            </a:r>
            <a:pPr indent="0" marL="0">
              <a:lnSpc>
                <a:spcPts val="3000"/>
              </a:lnSpc>
              <a:buNone/>
            </a:pPr>
            <a:r>
              <a:rPr lang="en-US" sz="21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데이터가 5가지 기준으로 집을 골라줍니다</a:t>
            </a:r>
            <a:endParaRPr lang="en-US" sz="215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55778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606040"/>
            <a:ext cx="384048" cy="384048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417320" y="2468880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주거비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서울 2025 전월세 실거래 데이터의 중앙값 기반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255264"/>
            <a:ext cx="55778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392424"/>
            <a:ext cx="384048" cy="384048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3255264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통근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대중교통 경로 API로 계산한 출퇴근 시간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41648"/>
            <a:ext cx="55778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78808"/>
            <a:ext cx="384048" cy="384048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4041648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 SOC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병원·학교·공원 반경 1.6km 접근성 점수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28032"/>
            <a:ext cx="55778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65192"/>
            <a:ext cx="384048" cy="384048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17320" y="4828032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안전·환경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치안시설 · CCTV · 대기질 · 녹지 접근성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614416"/>
            <a:ext cx="55778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751576"/>
            <a:ext cx="384048" cy="384048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17320" y="5614416"/>
            <a:ext cx="4709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신호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전세가율 · 공시가 대비 보증금 · 권리관계 점검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611112" y="1581912"/>
            <a:ext cx="5111496" cy="3328416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20" name="Image 0" descr="/Users/leeseungbo/Desktop/공모전/2026년 공모전/국토교통 서비스 발굴 경연/deliverables/screenshots/03-recommendation-result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20840" y="1691640"/>
            <a:ext cx="4892040" cy="31089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11112" y="4946904"/>
            <a:ext cx="51114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 입력 → 매칭 랭킹 → 지도 확인까지 한 화면에서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611112" y="5257800"/>
            <a:ext cx="511149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11112" y="5257800"/>
            <a:ext cx="51114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광고가 아닌 </a:t>
            </a:r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근거</a:t>
            </a:r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추천하고,</a:t>
            </a:r>
            <a:endParaRPr lang="en-US" sz="13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점수의 산출 근거를 화면에 공개합니다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554480" cy="402336"/>
          </a:xfrm>
          <a:prstGeom prst="roundRect">
            <a:avLst>
              <a:gd name="adj" fmla="val 25000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 흐름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단계로 끝나는 아파트 결정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938528"/>
            <a:ext cx="402336" cy="402336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8992" y="19202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조건 입력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5146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7" name="Image 0" descr="/Users/leeseungbo/Desktop/공모전/2026년 공모전/국토교통 서비스 발굴 경연/deliverables/screenshots/02-condition-in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2606040"/>
            <a:ext cx="2423160" cy="1691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457200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예산, 회사 주소, 가구 유형과 통근·주거비·SOC·안전 가중치를 내 기준대로 조절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145536" y="32004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410712" y="1938528"/>
            <a:ext cx="402336" cy="402336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22776" y="19202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매칭 확인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410712" y="25146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13" name="Image 1" descr="/Users/leeseungbo/Desktop/공모전/2026년 공모전/국토교통 서비스 발굴 경연/deliverables/screenshots/03-recommendation-resul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502152" y="2606040"/>
            <a:ext cx="2423160" cy="1691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457200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조건에 맞는 단지를 점수 순 랭킹으로, 지도에서 위치·가격 라벨과 함께 확인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89320" y="32004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254496" y="1938528"/>
            <a:ext cx="402336" cy="402336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66560" y="19202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상세 검증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254496" y="25146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19" name="Image 2" descr="/Users/leeseungbo/Desktop/공모전/2026년 공모전/국토교통 서비스 발굴 경연/deliverables/screenshots/05-property-dashboar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45936" y="2606040"/>
            <a:ext cx="2423160" cy="1691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54496" y="457200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가격·거래 추이·전세 위험 신호·계약 전 체크리스트를 대시보드로 점검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833104" y="320040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9098280" y="1938528"/>
            <a:ext cx="402336" cy="402336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9610344" y="1920240"/>
            <a:ext cx="2103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 · 비교 · 상담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9098280" y="2514600"/>
            <a:ext cx="260604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25" name="Image 3" descr="/Users/leeseungbo/Desktop/공모전/2026년 공모전/국토교통 서비스 발굴 경연/deliverables/screenshots/07-candidate-comparison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9720" y="2606040"/>
            <a:ext cx="2423160" cy="1691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98280" y="4572000"/>
            <a:ext cx="260604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즐겨찾기 단지를 나란히 비교하고 AI Agent에게 판단 근거를 질문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과정이 현재 프로토타입에서 실제로 작동합니다 (스크린샷은 모두 실제 구동 화면)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402336"/>
          </a:xfrm>
          <a:prstGeom prst="roundRect">
            <a:avLst>
              <a:gd name="adj" fmla="val 25000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위에서 설명되는 매칭 — </a:t>
            </a:r>
            <a:pPr indent="0" marL="0">
              <a:buNone/>
            </a:pPr>
            <a:r>
              <a:rPr lang="en-US" sz="25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점수에 근거가 있습니다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947672"/>
            <a:ext cx="6528816" cy="4224528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5" name="Image 0" descr="/Users/leeseungbo/Desktop/공모전/2026년 공모전/국토교통 서비스 발굴 경연/deliverables/screenshots/04-map-based-recommend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057400"/>
            <a:ext cx="6309360" cy="40050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208776"/>
            <a:ext cx="6528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전역 아파트 단지 지도 — 실거래 기반 가격 라벨과 클러스터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498080" y="2057400"/>
            <a:ext cx="4069080" cy="123444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21671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실거래 기반 가격 라벨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0" y="256032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위 단지 라벨을 매매가 · 전세가율 · 위험도 · 통근시간 기준으로 전환하며 탐색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498080" y="3474720"/>
            <a:ext cx="4069080" cy="123444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0" y="358444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기준으로 가중치 조절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0" y="3977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“통근이 제일 중요해” — 슬라이더를 움직이면 랭킹이 즉시 다시 계산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98080" y="4892040"/>
            <a:ext cx="4069080" cy="1234440"/>
          </a:xfrm>
          <a:prstGeom prst="roundRect">
            <a:avLst>
              <a:gd name="adj" fmla="val 6667"/>
            </a:avLst>
          </a:prstGeom>
          <a:solidFill>
            <a:srgbClr val="E8F8E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500176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 근거 전면 공개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772400" y="539496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단지가 1위인지, 항목별 점수와 데이터 출처를 화면에서 그대로 확인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645920" cy="402336"/>
          </a:xfrm>
          <a:prstGeom prst="roundRect">
            <a:avLst>
              <a:gd name="adj" fmla="val 25000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 위험, </a:t>
            </a:r>
            <a:pPr indent="0" marL="0">
              <a:buNone/>
            </a:pPr>
            <a:r>
              <a:rPr lang="en-US" sz="26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계약하기 전에</a:t>
            </a:r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신호로 보여줍니다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01952"/>
            <a:ext cx="5431536" cy="3529584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5" name="Image 0" descr="/Users/leeseungbo/Desktop/공모전/2026년 공모전/국토교통 서비스 발굴 경연/deliverables/screenshots/08-jeonse-risk-che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011680"/>
            <a:ext cx="5212080" cy="331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468112"/>
            <a:ext cx="5431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 위험 신호 점검 + 계약 전 체크리스트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245352" y="1901952"/>
            <a:ext cx="5431536" cy="3529584"/>
          </a:xfrm>
          <a:prstGeom prst="roundRect">
            <a:avLst>
              <a:gd name="adj" fmla="val 233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8" name="Image 1" descr="/Users/leeseungbo/Desktop/공모전/2026년 공모전/국토교통 서비스 발굴 경연/deliverables/screenshots/09-ai-agent-q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2011680"/>
            <a:ext cx="5212080" cy="33101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5352" y="5468112"/>
            <a:ext cx="54315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— “이 아파트 전세 들어가도 괜찮아?”에 근거로 답변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40080" y="5897880"/>
            <a:ext cx="10927080" cy="658368"/>
          </a:xfrm>
          <a:prstGeom prst="roundRect">
            <a:avLst>
              <a:gd name="adj" fmla="val 12500"/>
            </a:avLst>
          </a:prstGeom>
          <a:solidFill>
            <a:srgbClr val="E8F8E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0080" y="5897880"/>
            <a:ext cx="10927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전세가율 · 공시가 대비 보증금 · 건물 노후도 · 권리관계</a:t>
            </a:r>
            <a:pPr algn="ctr" indent="0" marL="0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신호등처럼 번역해, 사회 현안인 전세 피해를 계약 전에 예방합니다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377440" cy="402336"/>
          </a:xfrm>
          <a:prstGeom prst="roundRect">
            <a:avLst>
              <a:gd name="adj" fmla="val 25000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서비스와의 차별점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매물을 </a:t>
            </a:r>
            <a:pPr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파는</a:t>
            </a:r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앱이 아니라, 결정을 </a:t>
            </a:r>
            <a:pPr indent="0" marL="0">
              <a:buNone/>
            </a:pPr>
            <a:r>
              <a:rPr lang="en-US" sz="26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돕는</a:t>
            </a:r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서비스입니다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795528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834640"/>
                <a:gridCol w="374904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C7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부동산 플랫폼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C75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MoveValue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1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매물 목록에서 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조건(예산·직장·가구)에서 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가격 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호가 중심 시세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실거래가 + 공시가 + 전세가율 결합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생활 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표시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통근 · 생활 SOC · 안전을 점수화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위험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개인이 별도로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위험 신호 + 체크리스트 + AI 설명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근거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4748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· 노출 순위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출처와 점수 산식 공개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E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961120" y="205740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E8F8E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89720" y="2240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프레임의 전환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9189720" y="260604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“얼마짜리 집인가”에서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“여기 살면 매달 얼마의 시간과 비용이 드는가”로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961120" y="388620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89720" y="40690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생활권 우선 추천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89720" y="44348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나열이 아니라 생활권을 먼저 추천하고, 그 안의 실거래 예시와 통근 루트를 검증하는 역방향 구조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286000" cy="402336"/>
          </a:xfrm>
          <a:prstGeom prst="roundRect">
            <a:avLst>
              <a:gd name="adj" fmla="val 25000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 데이터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재료는 </a:t>
            </a:r>
            <a:pPr indent="0" marL="0">
              <a:buNone/>
            </a:pPr>
            <a:r>
              <a:rPr lang="en-US" sz="24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</a:t>
            </a:r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무료 API 인증키 발급만으로 확보됩니다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21208" y="201168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2212848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E8F8EF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국토교통부 · 공공데이터포털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" y="27889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 매매 실거래가 API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95528" y="32095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아파트 전월세 실거래가 API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95528" y="36301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공동주택 공시가격 정보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5528" y="40507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건축HUB 건축물대장 정보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61688" y="201168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90288" y="2212848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E8F8EF"/>
          </a:solidFill>
          <a:ln/>
        </p:spPr>
      </p:sp>
      <p:sp>
        <p:nvSpPr>
          <p:cNvPr id="13" name="Text 11"/>
          <p:cNvSpPr/>
          <p:nvPr/>
        </p:nvSpPr>
        <p:spPr>
          <a:xfrm>
            <a:off x="4590288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열린데이터광장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36008" y="27889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공동주택 아파트 정보 (2,876개 단지)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636008" y="32095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부동산 전월세가 정보 (2025)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36008" y="36301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병의원 · 학교 · 공원 위치 정보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36008" y="40507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치안시설 · CCTV · 대기질 측정망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202168" y="2011680"/>
            <a:ext cx="356616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2212848"/>
            <a:ext cx="3108960" cy="457200"/>
          </a:xfrm>
          <a:prstGeom prst="roundRect">
            <a:avLst>
              <a:gd name="adj" fmla="val 16000"/>
            </a:avLst>
          </a:prstGeom>
          <a:solidFill>
            <a:srgbClr val="E8F8EF"/>
          </a:solidFill>
          <a:ln/>
        </p:spPr>
      </p:sp>
      <p:sp>
        <p:nvSpPr>
          <p:cNvPr id="20" name="Text 18"/>
          <p:cNvSpPr/>
          <p:nvPr/>
        </p:nvSpPr>
        <p:spPr>
          <a:xfrm>
            <a:off x="8430768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· 경로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76488" y="27889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Kakao 주소 검색 (지오코딩)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76488" y="32095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ODsay · TMAP 대중교통 경로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76488" y="363016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VWorld 지오코더 (보정용)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76488" y="40507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 </a:t>
            </a:r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 도시철도 역사 표준데이터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1208" y="4800600"/>
            <a:ext cx="5532120" cy="1463040"/>
          </a:xfrm>
          <a:prstGeom prst="roundRect">
            <a:avLst>
              <a:gd name="adj" fmla="val 5625"/>
            </a:avLst>
          </a:prstGeom>
          <a:solidFill>
            <a:srgbClr val="E8F8E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" y="495604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 데이터 · API — 연동 어댑터 구현 완료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95528" y="5367528"/>
            <a:ext cx="5074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프로토타입에 어댑터 코드 탑재를 마쳤고, 키가 없는 심사 환경에서는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스냅샷으로 자동 폴백 — 어떤 환경에서도 항상 동작합니다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27648" y="4800600"/>
            <a:ext cx="525780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495604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실데이터로 계산합니다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601968" y="536752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주거비 지표는 서울시 2025 전월세 실거래 파일을 직접 내려받아 집계한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생활권별 중앙값 — 가상의 숫자가 아닌 실제 거래 기반입니다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554480" cy="402336"/>
          </a:xfrm>
          <a:prstGeom prst="roundRect">
            <a:avLst>
              <a:gd name="adj" fmla="val 25000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현황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아이디어가 아니라, </a:t>
            </a:r>
            <a:pPr indent="0" marL="0">
              <a:buNone/>
            </a:pPr>
            <a:r>
              <a:rPr lang="en-US" sz="26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작동하는 서비스</a:t>
            </a:r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880360" cy="1298448"/>
          </a:xfrm>
          <a:prstGeom prst="roundRect">
            <a:avLst>
              <a:gd name="adj" fmla="val 6338"/>
            </a:avLst>
          </a:prstGeom>
          <a:solidFill>
            <a:srgbClr val="E8F8E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1214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한 줄로 실행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2505456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python3 api/movevalue_api.py — 표준 라이브러리만 사용, 별도 설치 불필요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03320" y="2011680"/>
            <a:ext cx="2880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04488" y="2121408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8종 제공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04488" y="2505456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· 지오코딩 · 통근 경로 · 단지 지도 · 상세 대시보드 · AI 응답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2880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6027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실데이터 탑재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1248" y="3986784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2025 전월세 실거래 집계 + 공동주택 단지 좌표 스냅샷 내장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3320" y="3493008"/>
            <a:ext cx="288036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04488" y="3602736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live 전환 구조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904488" y="3986784"/>
            <a:ext cx="25146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키를 넣는 순간 실거래가 · 대중교통 경로가 실시간 데이터로 전환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788920" y="52578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03C75A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엔진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8056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C7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37760" y="525780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8F8E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· 모바일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 서비스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93992" y="1993392"/>
            <a:ext cx="3511296" cy="2313432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22" name="Image 0" descr="/Users/leeseungbo/Desktop/공모전/2026년 공모전/국토교통 서비스 발굴 경연/deliverables/screenshots/05-property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03720" y="2103120"/>
            <a:ext cx="3291840" cy="2093976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10268712" y="1673352"/>
            <a:ext cx="1426464" cy="28346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pic>
        <p:nvPicPr>
          <p:cNvPr id="24" name="Image 1" descr="/Users/leeseungbo/Desktop/공모전/2026년 공모전/국토교통 서비스 발굴 경연/deliverables/screenshots/10-mobile-responsiv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378440" y="1783080"/>
            <a:ext cx="1207008" cy="261518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6656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단지 상세 대시보드(좌) · 모바일 반응형(우) — 동일한 API를 사용합니다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6903720" y="525780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903720" y="5257800"/>
            <a:ext cx="4663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환경 시연 OK — </a:t>
            </a:r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인터넷과 파이썬만 있으면</a:t>
            </a:r>
            <a:endParaRPr lang="en-US" sz="12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어디서든 1분 안에 동일 화면을 재현합니다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2286000" cy="40233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03C75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계획 · 기대 효과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서울에서 검증하고, </a:t>
            </a:r>
            <a:pPr indent="0" marL="0">
              <a:buNone/>
            </a:pPr>
            <a:r>
              <a:rPr lang="en-US" sz="26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전국으로 확장합니다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7607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58568"/>
            <a:ext cx="420624" cy="420624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508760" y="20116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· 선정 후 3개월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237744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9개 생활권 실증 (강남·서초·송파 등) — live API 키 검증, 시민 사용자 테스트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57607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3291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· 6개월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365760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 전역 2,876개 단지로 확장 — 공시가격 · 건축물대장 매핑, 데이터 자동 갱신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480560"/>
            <a:ext cx="57607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818888"/>
            <a:ext cx="420624" cy="420624"/>
          </a:xfrm>
          <a:prstGeom prst="ellipse">
            <a:avLst/>
          </a:prstGeom>
          <a:solidFill>
            <a:srgbClr val="03C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4572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· 12개월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4937760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수도권 · 전국 확대 — 지자체 진단 리포트(B2G) · 플랫폼 API(B2B) 개시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20840" y="1920240"/>
            <a:ext cx="4846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2185416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185416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66760" y="2011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주거 탐색 시간 단축 · 통근과 생활비 부담 절감 · 전세 피해 사전 예방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20840" y="3200400"/>
            <a:ext cx="4846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3465576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3465576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· 정부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32918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생활권 단위 주거 · 교통 취약지 진단 리포트로 정책 타깃팅 지원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720840" y="4480560"/>
            <a:ext cx="48463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49440" y="4745736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 w="9525">
            <a:solidFill>
              <a:srgbClr val="03C7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4745736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· 생태계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66760" y="4572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국토교통 공공데이터를 활용한 B2B API 신산업 창출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897880"/>
            <a:ext cx="10927080" cy="713232"/>
          </a:xfrm>
          <a:prstGeom prst="roundRect">
            <a:avLst>
              <a:gd name="adj" fmla="val 12821"/>
            </a:avLst>
          </a:prstGeom>
          <a:solidFill>
            <a:srgbClr val="03C75A"/>
          </a:solidFill>
          <a:ln/>
          <a:effectLst>
            <a:outerShdw sx="100000" sy="100000" kx="0" ky="0" algn="bl" rotWithShape="0" blurRad="20483830000000" dist="4096766000000" dir="19440000000000000">
              <a:srgbClr val="94A3B8">
                <a:alpha val="3000000000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5897880"/>
            <a:ext cx="10927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MoveValue — 국토교통 데이터로, 국민의 주거 결정이 달라집니다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292840" y="644652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MoveValue — 국토교통 데이터 기반 아파트 매칭</dc:title>
  <dc:subject>PptxGenJS Presentation</dc:subject>
  <dc:creator>MoveValue</dc:creator>
  <cp:lastModifiedBy>MoveValue</cp:lastModifiedBy>
  <cp:revision>1</cp:revision>
  <dcterms:created xsi:type="dcterms:W3CDTF">2026-07-10T15:10:03Z</dcterms:created>
  <dcterms:modified xsi:type="dcterms:W3CDTF">2026-07-10T15:10:03Z</dcterms:modified>
</cp:coreProperties>
</file>